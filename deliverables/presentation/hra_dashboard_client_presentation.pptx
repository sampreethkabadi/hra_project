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188720"/>
            <a:ext cx="98755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0F766E"/>
                </a:solidFill>
                <a:latin typeface="Aptos Display"/>
              </a:defRPr>
            </a:pPr>
            <a:r>
              <a:t>Human Reference Atlas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743200"/>
            <a:ext cx="950976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1F2937"/>
                </a:solidFill>
                <a:latin typeface="Aptos"/>
              </a:defRPr>
            </a:pPr>
            <a:r>
              <a:t>Analysis &amp; Recommendations</a:t>
            </a:r>
          </a:p>
          <a:p>
            <a:r>
              <a:t>Prepared from the HRA event and request logs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2377440"/>
            <a:ext cx="1234440" cy="914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2412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Scope and Dataset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1005840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058400" cy="4663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F2937"/>
                </a:solidFill>
                <a:latin typeface="Aptos"/>
              </a:defRPr>
            </a:pPr>
            <a:r>
              <a:t>Source parquet: 2026-01-13_hra-logs.parquet</a:t>
            </a:r>
          </a:p>
          <a:p>
            <a:pPr>
              <a:spcAft>
                <a:spcPts val="1000"/>
              </a:spcAft>
              <a:defRPr sz="2200">
                <a:solidFill>
                  <a:srgbClr val="1F2937"/>
                </a:solidFill>
                <a:latin typeface="Aptos"/>
              </a:defRPr>
            </a:pPr>
            <a:r>
              <a:t>Behavioral analysis window: August 5, 2025 to January 12, 2026</a:t>
            </a:r>
          </a:p>
          <a:p>
            <a:pPr>
              <a:spcAft>
                <a:spcPts val="1000"/>
              </a:spcAft>
              <a:defRPr sz="2200">
                <a:solidFill>
                  <a:srgbClr val="1F2937"/>
                </a:solidFill>
                <a:latin typeface="Aptos"/>
              </a:defRPr>
            </a:pPr>
            <a:r>
              <a:t>111,405 human events, 6,663 sessions, 15 app buckets</a:t>
            </a:r>
          </a:p>
          <a:p>
            <a:pPr>
              <a:spcAft>
                <a:spcPts val="1000"/>
              </a:spcAft>
              <a:defRPr sz="2200">
                <a:solidFill>
                  <a:srgbClr val="1F2937"/>
                </a:solidFill>
                <a:latin typeface="Aptos"/>
              </a:defRPr>
            </a:pPr>
            <a:r>
              <a:t>Behavioral analysis excludes Bot and AI-Assistant / Bot traffic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2412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Executive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1005840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058400" cy="4663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F2937"/>
                </a:solidFill>
                <a:latin typeface="Aptos"/>
              </a:defRPr>
            </a:pPr>
            <a:r>
              <a:t>HRA shows real engagement across RUI, EUI, KG Explorer, CDE, and the Portal</a:t>
            </a:r>
          </a:p>
          <a:p>
            <a:pPr>
              <a:spcAft>
                <a:spcPts val="1000"/>
              </a:spcAft>
              <a:defRPr sz="2200">
                <a:solidFill>
                  <a:srgbClr val="1F2937"/>
                </a:solidFill>
                <a:latin typeface="Aptos"/>
              </a:defRPr>
            </a:pPr>
            <a:r>
              <a:t>Usage is highly concentrated in a minority of sessions</a:t>
            </a:r>
          </a:p>
          <a:p>
            <a:pPr>
              <a:spcAft>
                <a:spcPts val="1000"/>
              </a:spcAft>
              <a:defRPr sz="2200">
                <a:solidFill>
                  <a:srgbClr val="1F2937"/>
                </a:solidFill>
                <a:latin typeface="Aptos"/>
              </a:defRPr>
            </a:pPr>
            <a:r>
              <a:t>Spatial search is discoverable but has strong funnel drop-off</a:t>
            </a:r>
          </a:p>
          <a:p>
            <a:pPr>
              <a:spcAft>
                <a:spcPts val="1000"/>
              </a:spcAft>
              <a:defRPr sz="2200">
                <a:solidFill>
                  <a:srgbClr val="1F2937"/>
                </a:solidFill>
                <a:latin typeface="Aptos"/>
              </a:defRPr>
            </a:pPr>
            <a:r>
              <a:t>RUI opacity is a legitimate expert feature, not a mainstream behavior</a:t>
            </a:r>
          </a:p>
          <a:p>
            <a:pPr>
              <a:spcAft>
                <a:spcPts val="1000"/>
              </a:spcAft>
              <a:defRPr sz="2200">
                <a:solidFill>
                  <a:srgbClr val="1F2937"/>
                </a:solidFill>
                <a:latin typeface="Aptos"/>
              </a:defRPr>
            </a:pPr>
            <a:r>
              <a:t>CDE download behavior is not directly measurable because downloads are not instrumented</a:t>
            </a:r>
          </a:p>
          <a:p>
            <a:pPr>
              <a:spcAft>
                <a:spcPts val="1000"/>
              </a:spcAft>
              <a:defRPr sz="2200">
                <a:solidFill>
                  <a:srgbClr val="1F2937"/>
                </a:solidFill>
                <a:latin typeface="Aptos"/>
              </a:defRPr>
            </a:pPr>
            <a:r>
              <a:t>Telemetry quality and uneven caching are the biggest cross-cutting issues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2412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RQ1: Event Frequency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1005840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058400" cy="4663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F2937"/>
                </a:solidFill>
                <a:latin typeface="Aptos"/>
              </a:defRPr>
            </a:pPr>
            <a:r>
              <a:t>Clicks are the dominant event type: 38,961 events</a:t>
            </a:r>
          </a:p>
          <a:p>
            <a:pPr>
              <a:spcAft>
                <a:spcPts val="1000"/>
              </a:spcAft>
              <a:defRPr sz="2200">
                <a:solidFill>
                  <a:srgbClr val="1F2937"/>
                </a:solidFill>
                <a:latin typeface="Aptos"/>
              </a:defRPr>
            </a:pPr>
            <a:r>
              <a:t>Errors are unusually high: 25,811 events</a:t>
            </a:r>
          </a:p>
          <a:p>
            <a:pPr>
              <a:spcAft>
                <a:spcPts val="1000"/>
              </a:spcAft>
              <a:defRPr sz="2200">
                <a:solidFill>
                  <a:srgbClr val="1F2937"/>
                </a:solidFill>
                <a:latin typeface="Aptos"/>
              </a:defRPr>
            </a:pPr>
            <a:r>
              <a:t>Median session size is only 3 events</a:t>
            </a:r>
          </a:p>
          <a:p>
            <a:pPr>
              <a:spcAft>
                <a:spcPts val="1000"/>
              </a:spcAft>
              <a:defRPr sz="2200">
                <a:solidFill>
                  <a:srgbClr val="1F2937"/>
                </a:solidFill>
                <a:latin typeface="Aptos"/>
              </a:defRPr>
            </a:pPr>
            <a:r>
              <a:t>99th percentile session size is about 195 events</a:t>
            </a:r>
          </a:p>
          <a:p>
            <a:pPr>
              <a:spcAft>
                <a:spcPts val="1000"/>
              </a:spcAft>
              <a:defRPr sz="2200">
                <a:solidFill>
                  <a:srgbClr val="1F2937"/>
                </a:solidFill>
                <a:latin typeface="Aptos"/>
              </a:defRPr>
            </a:pPr>
            <a:r>
              <a:t>A small number of heavy sessions drive a disproportionate share of activity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2412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RQ2: UI Element Usage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1005840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058400" cy="4663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F2937"/>
                </a:solidFill>
                <a:latin typeface="Aptos"/>
              </a:defRPr>
            </a:pPr>
            <a:r>
              <a:t>Strongest usage appears in RUI registration, EUI results, KG browsing, and CDE setup</a:t>
            </a:r>
          </a:p>
          <a:p>
            <a:pPr>
              <a:spcAft>
                <a:spcPts val="1000"/>
              </a:spcAft>
              <a:defRPr sz="2200">
                <a:solidFill>
                  <a:srgbClr val="1F2937"/>
                </a:solidFill>
                <a:latin typeface="Aptos"/>
              </a:defRPr>
            </a:pPr>
            <a:r>
              <a:t>2,486 clicked UI paths have fewer than 5 clicks</a:t>
            </a:r>
          </a:p>
          <a:p>
            <a:pPr>
              <a:spcAft>
                <a:spcPts val="1000"/>
              </a:spcAft>
              <a:defRPr sz="2200">
                <a:solidFill>
                  <a:srgbClr val="1F2937"/>
                </a:solidFill>
                <a:latin typeface="Aptos"/>
              </a:defRPr>
            </a:pPr>
            <a:r>
              <a:t>Several surfaces show heavy hover attention but weak click conversion</a:t>
            </a:r>
          </a:p>
          <a:p>
            <a:pPr>
              <a:spcAft>
                <a:spcPts val="1000"/>
              </a:spcAft>
              <a:defRPr sz="2200">
                <a:solidFill>
                  <a:srgbClr val="1F2937"/>
                </a:solidFill>
                <a:latin typeface="Aptos"/>
              </a:defRPr>
            </a:pPr>
            <a:r>
              <a:t>This suggests a mix of low-value features and discoverability-to-usability gaps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2412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RQ3: RUI Opacity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1005840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058400" cy="4663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F2937"/>
                </a:solidFill>
                <a:latin typeface="Aptos"/>
              </a:defRPr>
            </a:pPr>
            <a:r>
              <a:t>206 opacity-related events across 9,430 total RUI events</a:t>
            </a:r>
          </a:p>
          <a:p>
            <a:pPr>
              <a:spcAft>
                <a:spcPts val="1000"/>
              </a:spcAft>
              <a:defRPr sz="2200">
                <a:solidFill>
                  <a:srgbClr val="1F2937"/>
                </a:solidFill>
                <a:latin typeface="Aptos"/>
              </a:defRPr>
            </a:pPr>
            <a:r>
              <a:t>Opacity is about 2.2% of all RUI activity</a:t>
            </a:r>
          </a:p>
          <a:p>
            <a:pPr>
              <a:spcAft>
                <a:spcPts val="1000"/>
              </a:spcAft>
              <a:defRPr sz="2200">
                <a:solidFill>
                  <a:srgbClr val="1F2937"/>
                </a:solidFill>
                <a:latin typeface="Aptos"/>
              </a:defRPr>
            </a:pPr>
            <a:r>
              <a:t>Most usage is at the anatomical-structure level, not the global settings panel</a:t>
            </a:r>
          </a:p>
          <a:p>
            <a:pPr>
              <a:spcAft>
                <a:spcPts val="1000"/>
              </a:spcAft>
              <a:defRPr sz="2200">
                <a:solidFill>
                  <a:srgbClr val="1F2937"/>
                </a:solidFill>
                <a:latin typeface="Aptos"/>
              </a:defRPr>
            </a:pPr>
            <a:r>
              <a:t>Conclusion: useful for advanced users, but not a top-volume feature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2412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RQ4: EUI Spatial Search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1005840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058400" cy="4663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F2937"/>
                </a:solidFill>
                <a:latin typeface="Aptos"/>
              </a:defRPr>
            </a:pPr>
            <a:r>
              <a:t>1,016 spatial-search events across 69 sessions</a:t>
            </a:r>
          </a:p>
          <a:p>
            <a:pPr>
              <a:spcAft>
                <a:spcPts val="1000"/>
              </a:spcAft>
              <a:defRPr sz="2200">
                <a:solidFill>
                  <a:srgbClr val="1F2937"/>
                </a:solidFill>
                <a:latin typeface="Aptos"/>
              </a:defRPr>
            </a:pPr>
            <a:r>
              <a:t>Funnel: 66 opened, 50 configured, 27 continued, 24 reviewed results, 7 applied/reset</a:t>
            </a:r>
          </a:p>
          <a:p>
            <a:pPr>
              <a:spcAft>
                <a:spcPts val="1000"/>
              </a:spcAft>
              <a:defRPr sz="2200">
                <a:solidFill>
                  <a:srgbClr val="1F2937"/>
                </a:solidFill>
                <a:latin typeface="Aptos"/>
              </a:defRPr>
            </a:pPr>
            <a:r>
              <a:t>The feature appears valuable but difficult to complete</a:t>
            </a:r>
          </a:p>
          <a:p>
            <a:pPr>
              <a:spcAft>
                <a:spcPts val="1000"/>
              </a:spcAft>
              <a:defRPr sz="2200">
                <a:solidFill>
                  <a:srgbClr val="1F2937"/>
                </a:solidFill>
                <a:latin typeface="Aptos"/>
              </a:defRPr>
            </a:pPr>
            <a:r>
              <a:t>Recommendation: improve the configure-to-continue step first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2412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RQ5: CDE Downloads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1005840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058400" cy="4663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F2937"/>
                </a:solidFill>
                <a:latin typeface="Aptos"/>
              </a:defRPr>
            </a:pPr>
            <a:r>
              <a:t>Users do reach create and visualize stages in CDE</a:t>
            </a:r>
          </a:p>
          <a:p>
            <a:pPr>
              <a:spcAft>
                <a:spcPts val="1000"/>
              </a:spcAft>
              <a:defRPr sz="2200">
                <a:solidFill>
                  <a:srgbClr val="1F2937"/>
                </a:solidFill>
                <a:latin typeface="Aptos"/>
              </a:defRPr>
            </a:pPr>
            <a:r>
              <a:t>However, no direct histogram or violin download events appear in the logs</a:t>
            </a:r>
          </a:p>
          <a:p>
            <a:pPr>
              <a:spcAft>
                <a:spcPts val="1000"/>
              </a:spcAft>
              <a:defRPr sz="2200">
                <a:solidFill>
                  <a:srgbClr val="1F2937"/>
                </a:solidFill>
                <a:latin typeface="Aptos"/>
              </a:defRPr>
            </a:pPr>
            <a:r>
              <a:t>This is an instrumentation gap, not proof of no usage</a:t>
            </a:r>
          </a:p>
          <a:p>
            <a:pPr>
              <a:spcAft>
                <a:spcPts val="1000"/>
              </a:spcAft>
              <a:defRPr sz="2200">
                <a:solidFill>
                  <a:srgbClr val="1F2937"/>
                </a:solidFill>
                <a:latin typeface="Aptos"/>
              </a:defRPr>
            </a:pPr>
            <a:r>
              <a:t>Recommendation: add explicit download events before making product decisions about export behavior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2412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Performance Findings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1005840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058400" cy="4663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F2937"/>
                </a:solidFill>
                <a:latin typeface="Aptos"/>
              </a:defRPr>
            </a:pPr>
            <a:r>
              <a:t>CDN performs best with 79.03% cache-served requests</a:t>
            </a:r>
          </a:p>
          <a:p>
            <a:pPr>
              <a:spcAft>
                <a:spcPts val="1000"/>
              </a:spcAft>
              <a:defRPr sz="2200">
                <a:solidFill>
                  <a:srgbClr val="1F2937"/>
                </a:solidFill>
                <a:latin typeface="Aptos"/>
              </a:defRPr>
            </a:pPr>
            <a:r>
              <a:t>KG Explorer page routes perform strongly with 96.83% cache-served requests</a:t>
            </a:r>
          </a:p>
          <a:p>
            <a:pPr>
              <a:spcAft>
                <a:spcPts val="1000"/>
              </a:spcAft>
              <a:defRPr sz="2200">
                <a:solidFill>
                  <a:srgbClr val="1F2937"/>
                </a:solidFill>
                <a:latin typeface="Aptos"/>
              </a:defRPr>
            </a:pPr>
            <a:r>
              <a:t>CDE page routes are materially better than EUI and RUI page routes</a:t>
            </a:r>
          </a:p>
          <a:p>
            <a:pPr>
              <a:spcAft>
                <a:spcPts val="1000"/>
              </a:spcAft>
              <a:defRPr sz="2200">
                <a:solidFill>
                  <a:srgbClr val="1F2937"/>
                </a:solidFill>
                <a:latin typeface="Aptos"/>
              </a:defRPr>
            </a:pPr>
            <a:r>
              <a:t>Apps and Portal surfaces show room for meaningful cache and error improvement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2412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Data-Quality Risks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1005840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058400" cy="4663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F2937"/>
                </a:solidFill>
                <a:latin typeface="Aptos"/>
              </a:defRPr>
            </a:pPr>
            <a:r>
              <a:t>28,087 events have no app attribution and are grouped as Unspecified</a:t>
            </a:r>
          </a:p>
          <a:p>
            <a:pPr>
              <a:spcAft>
                <a:spcPts val="1000"/>
              </a:spcAft>
              <a:defRPr sz="2200">
                <a:solidFill>
                  <a:srgbClr val="1F2937"/>
                </a:solidFill>
                <a:latin typeface="Aptos"/>
              </a:defRPr>
            </a:pPr>
            <a:r>
              <a:t>25,856 events have no usable UI path</a:t>
            </a:r>
          </a:p>
          <a:p>
            <a:pPr>
              <a:spcAft>
                <a:spcPts val="1000"/>
              </a:spcAft>
              <a:defRPr sz="2200">
                <a:solidFill>
                  <a:srgbClr val="1F2937"/>
                </a:solidFill>
                <a:latin typeface="Aptos"/>
              </a:defRPr>
            </a:pPr>
            <a:r>
              <a:t>Missing attribution reduces confidence in feature-level rankings and funnel counts</a:t>
            </a:r>
          </a:p>
          <a:p>
            <a:pPr>
              <a:spcAft>
                <a:spcPts val="1000"/>
              </a:spcAft>
              <a:defRPr sz="2200">
                <a:solidFill>
                  <a:srgbClr val="1F2937"/>
                </a:solidFill>
                <a:latin typeface="Aptos"/>
              </a:defRPr>
            </a:pPr>
            <a:r>
              <a:t>Instrumentation cleanup should be treated as a product and analytics priority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2412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Recommendations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1005840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058400" cy="4663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F2937"/>
                </a:solidFill>
                <a:latin typeface="Aptos"/>
              </a:defRPr>
            </a:pPr>
            <a:r>
              <a:t>Fix instrumentation first: app, path, session, and CDE download events</a:t>
            </a:r>
          </a:p>
          <a:p>
            <a:pPr>
              <a:spcAft>
                <a:spcPts val="1000"/>
              </a:spcAft>
              <a:defRPr sz="2200">
                <a:solidFill>
                  <a:srgbClr val="1F2937"/>
                </a:solidFill>
                <a:latin typeface="Aptos"/>
              </a:defRPr>
            </a:pPr>
            <a:r>
              <a:t>Improve EUI spatial-search completion</a:t>
            </a:r>
          </a:p>
          <a:p>
            <a:pPr>
              <a:spcAft>
                <a:spcPts val="1000"/>
              </a:spcAft>
              <a:defRPr sz="2200">
                <a:solidFill>
                  <a:srgbClr val="1F2937"/>
                </a:solidFill>
                <a:latin typeface="Aptos"/>
              </a:defRPr>
            </a:pPr>
            <a:r>
              <a:t>Review hover-heavy, low-click surfaces for conversion problems</a:t>
            </a:r>
          </a:p>
          <a:p>
            <a:pPr>
              <a:spcAft>
                <a:spcPts val="1000"/>
              </a:spcAft>
              <a:defRPr sz="2200">
                <a:solidFill>
                  <a:srgbClr val="1F2937"/>
                </a:solidFill>
                <a:latin typeface="Aptos"/>
              </a:defRPr>
            </a:pPr>
            <a:r>
              <a:t>Preserve RUI opacity as an expert feature without over-prioritizing it</a:t>
            </a:r>
          </a:p>
          <a:p>
            <a:pPr>
              <a:spcAft>
                <a:spcPts val="1000"/>
              </a:spcAft>
              <a:defRPr sz="2200">
                <a:solidFill>
                  <a:srgbClr val="1F2937"/>
                </a:solidFill>
                <a:latin typeface="Aptos"/>
              </a:defRPr>
            </a:pPr>
            <a:r>
              <a:t>Investigate app-page caching for EUI, RUI, Dashboard, and ASCT+B Reporter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2412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1005840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058400" cy="4663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F2937"/>
                </a:solidFill>
                <a:latin typeface="Aptos"/>
              </a:defRPr>
            </a:pPr>
            <a:r>
              <a:t>Ship instrumentation fixes and rerun the dashboard</a:t>
            </a:r>
          </a:p>
          <a:p>
            <a:pPr>
              <a:spcAft>
                <a:spcPts val="1000"/>
              </a:spcAft>
              <a:defRPr sz="2200">
                <a:solidFill>
                  <a:srgbClr val="1F2937"/>
                </a:solidFill>
                <a:latin typeface="Aptos"/>
              </a:defRPr>
            </a:pPr>
            <a:r>
              <a:t>Prioritize UX improvements in EUI spatial search</a:t>
            </a:r>
          </a:p>
          <a:p>
            <a:pPr>
              <a:spcAft>
                <a:spcPts val="1000"/>
              </a:spcAft>
              <a:defRPr sz="2200">
                <a:solidFill>
                  <a:srgbClr val="1F2937"/>
                </a:solidFill>
                <a:latin typeface="Aptos"/>
              </a:defRPr>
            </a:pPr>
            <a:r>
              <a:t>Add direct tracking for CDE chart downloads</a:t>
            </a:r>
          </a:p>
          <a:p>
            <a:pPr>
              <a:spcAft>
                <a:spcPts val="1000"/>
              </a:spcAft>
              <a:defRPr sz="2200">
                <a:solidFill>
                  <a:srgbClr val="1F2937"/>
                </a:solidFill>
                <a:latin typeface="Aptos"/>
              </a:defRPr>
            </a:pPr>
            <a:r>
              <a:t>Use the next dashboard refresh to validate which product changes actually improve usage and completion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Human Reference Atlas Dashboard - Analysis &amp; Recommendations</dc:title>
  <dc:subject>Client presentation based on the HRA dashboard analysis</dc:subject>
  <dc:creator>HRA Project Team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